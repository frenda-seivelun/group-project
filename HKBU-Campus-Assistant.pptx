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14630400" cy="8229600"/>
  <p:notesSz cx="8229600" cy="14630400"/>
  <p:embeddedFontLst>
    <p:embeddedFont>
      <p:font typeface="IBM Plex Sans Medium" panose="020B0803050203000203" pitchFamily="34" charset="0"/>
      <p:bold r:id="rId16"/>
    </p:embeddedFont>
    <p:embeddedFont>
      <p:font typeface="IBM Plex Sans Medium" panose="020B0803050203000203" pitchFamily="34" charset="-122"/>
      <p:bold r:id="rId17"/>
    </p:embeddedFont>
    <p:embeddedFont>
      <p:font typeface="IBM Plex Sans Medium" panose="020B0803050203000203" pitchFamily="34" charset="-120"/>
      <p:bold r:id="rId18"/>
    </p:embeddedFont>
    <p:embeddedFont>
      <p:font typeface="Roboto" panose="02000000000000000000" pitchFamily="34" charset="0"/>
      <p:regular r:id="rId19"/>
    </p:embeddedFont>
    <p:embeddedFont>
      <p:font typeface="Roboto" panose="02000000000000000000" pitchFamily="34" charset="-122"/>
      <p:regular r:id="rId20"/>
    </p:embeddedFont>
    <p:embeddedFont>
      <p:font typeface="Roboto" panose="02000000000000000000" pitchFamily="34" charset="-120"/>
      <p:regular r:id="rId21"/>
    </p:embeddedFont>
    <p:embeddedFont>
      <p:font typeface="Consolas" panose="020B0609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34" charset="-122"/>
      <p:regular r:id="rId26"/>
    </p:embeddedFont>
    <p:embeddedFont>
      <p:font typeface="Consolas" panose="020B06090202040302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77703"/>
            <a:ext cx="633543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HKBU Campus Assistant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626644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Cloud-Deployed Telegram Bot with LLM Memory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244697"/>
            <a:ext cx="4608671" cy="426244"/>
          </a:xfrm>
          <a:prstGeom prst="roundRect">
            <a:avLst>
              <a:gd name="adj" fmla="val 6386"/>
            </a:avLst>
          </a:prstGeom>
          <a:solidFill>
            <a:srgbClr val="4D1F00"/>
          </a:solidFill>
        </p:spPr>
      </p:sp>
      <p:sp>
        <p:nvSpPr>
          <p:cNvPr id="7" name="Text 4"/>
          <p:cNvSpPr/>
          <p:nvPr/>
        </p:nvSpPr>
        <p:spPr>
          <a:xfrm>
            <a:off x="929878" y="4312682"/>
            <a:ext cx="4336494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COMP7940 CLOUD COMPUTING &amp; DEVOPS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4926092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Student Name: [Ou Xunxiong]  |  Student ID: [25401564]  |  Date: 15/22 April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68417"/>
            <a:ext cx="5316260" cy="664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Project Overview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731526"/>
            <a:ext cx="13141881" cy="659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Upgrade the laboratory chatbot into a production-ready cloud service—not just to make it run, but to make it </a:t>
            </a:r>
            <a:r>
              <a:rPr lang="en-US" sz="16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reliable, observable, and cost-controlled</a:t>
            </a: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614851"/>
            <a:ext cx="6471285" cy="2373511"/>
          </a:xfrm>
          <a:prstGeom prst="roundRect">
            <a:avLst>
              <a:gd name="adj" fmla="val 1344"/>
            </a:avLst>
          </a:prstGeom>
          <a:solidFill>
            <a:srgbClr val="484B51"/>
          </a:solidFill>
        </p:spPr>
      </p:sp>
      <p:sp>
        <p:nvSpPr>
          <p:cNvPr id="5" name="Shape 3"/>
          <p:cNvSpPr/>
          <p:nvPr/>
        </p:nvSpPr>
        <p:spPr>
          <a:xfrm>
            <a:off x="956905" y="282749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2284" y="3002875"/>
            <a:ext cx="287060" cy="287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905" y="3664744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LLM-Powered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56905" y="4116586"/>
            <a:ext cx="6045994" cy="659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Connected to the HKBU GenAI API to provide natural language conversation capabilities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4855" y="2614851"/>
            <a:ext cx="6471285" cy="2373511"/>
          </a:xfrm>
          <a:prstGeom prst="roundRect">
            <a:avLst>
              <a:gd name="adj" fmla="val 1344"/>
            </a:avLst>
          </a:prstGeom>
          <a:solidFill>
            <a:srgbClr val="484B51"/>
          </a:solidFill>
        </p:spPr>
      </p:sp>
      <p:sp>
        <p:nvSpPr>
          <p:cNvPr id="10" name="Shape 7"/>
          <p:cNvSpPr/>
          <p:nvPr/>
        </p:nvSpPr>
        <p:spPr>
          <a:xfrm>
            <a:off x="7627501" y="282749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2880" y="3002875"/>
            <a:ext cx="287060" cy="287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7501" y="3664744"/>
            <a:ext cx="2666881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AWS EC2 Deployment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27501" y="4116586"/>
            <a:ext cx="6045994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Docker containerized and running on an Ubuntu 22.04 instance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4260" y="5187672"/>
            <a:ext cx="6471285" cy="2373511"/>
          </a:xfrm>
          <a:prstGeom prst="roundRect">
            <a:avLst>
              <a:gd name="adj" fmla="val 1344"/>
            </a:avLst>
          </a:prstGeom>
          <a:solidFill>
            <a:srgbClr val="484B51"/>
          </a:solidFill>
        </p:spPr>
      </p:sp>
      <p:sp>
        <p:nvSpPr>
          <p:cNvPr id="15" name="Shape 11"/>
          <p:cNvSpPr/>
          <p:nvPr/>
        </p:nvSpPr>
        <p:spPr>
          <a:xfrm>
            <a:off x="956905" y="5400318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2284" y="5575697"/>
            <a:ext cx="287060" cy="287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905" y="6237565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Conversation Memory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56905" y="6689408"/>
            <a:ext cx="6045994" cy="659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Persistent context storage based on the Supabase cloud database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14855" y="5187672"/>
            <a:ext cx="6471285" cy="2373511"/>
          </a:xfrm>
          <a:prstGeom prst="roundRect">
            <a:avLst>
              <a:gd name="adj" fmla="val 1344"/>
            </a:avLst>
          </a:prstGeom>
          <a:solidFill>
            <a:srgbClr val="484B51"/>
          </a:solidFill>
        </p:spPr>
      </p:sp>
      <p:sp>
        <p:nvSpPr>
          <p:cNvPr id="20" name="Shape 15"/>
          <p:cNvSpPr/>
          <p:nvPr/>
        </p:nvSpPr>
        <p:spPr>
          <a:xfrm>
            <a:off x="7627501" y="5400318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02880" y="5575697"/>
            <a:ext cx="287060" cy="287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7501" y="6237565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Fully Observable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627501" y="6689408"/>
            <a:ext cx="6045994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Log tracking + AWS cost budget monitoring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49712"/>
            <a:ext cx="4607362" cy="575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668" y="1692354"/>
            <a:ext cx="6960632" cy="4709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60739" y="3390594"/>
            <a:ext cx="1267478" cy="11592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Four-Layer Architecture Message 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55032" y="5002474"/>
            <a:ext cx="1885598" cy="579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AWS EC2 Receives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55032" y="5664551"/>
            <a:ext cx="1885598" cy="2101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t3.micro Ubuntu host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836088" y="5042244"/>
            <a:ext cx="1885599" cy="289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Docker Container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36088" y="5414501"/>
            <a:ext cx="1885599" cy="420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Runs bot.py inside the container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36088" y="1999782"/>
            <a:ext cx="1885599" cy="5796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Parallel Backend Calls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36088" y="2661859"/>
            <a:ext cx="1885599" cy="630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Supabase (memory) and HKBU LLM (inference)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7108" y="2249671"/>
            <a:ext cx="1885599" cy="289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Telegram Users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67108" y="2621928"/>
            <a:ext cx="1885599" cy="420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Send commands or natural language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56905" y="6569750"/>
            <a:ext cx="8108275" cy="8015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messages are routed via Telegram to EC2, where a Python bot inside a Docker container dispatches requests to Supabase (memory) and the HKBU GenAI API (inference), creating a clear modular architecture.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22381" y="1518523"/>
            <a:ext cx="4158496" cy="1386007"/>
          </a:xfrm>
          <a:prstGeom prst="roundRect">
            <a:avLst>
              <a:gd name="adj" fmla="val 7917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99521" y="1518523"/>
            <a:ext cx="91440" cy="1386007"/>
          </a:xfrm>
          <a:prstGeom prst="roundRect">
            <a:avLst>
              <a:gd name="adj" fmla="val 30233"/>
            </a:avLst>
          </a:prstGeom>
          <a:solidFill>
            <a:srgbClr val="FFBC8F"/>
          </a:solidFill>
        </p:spPr>
      </p:sp>
      <p:sp>
        <p:nvSpPr>
          <p:cNvPr id="16" name="Text 13"/>
          <p:cNvSpPr/>
          <p:nvPr/>
        </p:nvSpPr>
        <p:spPr>
          <a:xfrm>
            <a:off x="9798010" y="1725573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Telegram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798010" y="2163128"/>
            <a:ext cx="3675817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Message entry point, supports commands and natural language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522381" y="3054191"/>
            <a:ext cx="4158496" cy="1386007"/>
          </a:xfrm>
          <a:prstGeom prst="roundRect">
            <a:avLst>
              <a:gd name="adj" fmla="val 7917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99521" y="3054191"/>
            <a:ext cx="91440" cy="1386007"/>
          </a:xfrm>
          <a:prstGeom prst="roundRect">
            <a:avLst>
              <a:gd name="adj" fmla="val 30233"/>
            </a:avLst>
          </a:prstGeom>
          <a:solidFill>
            <a:srgbClr val="FFBC8F"/>
          </a:solidFill>
        </p:spPr>
      </p:sp>
      <p:sp>
        <p:nvSpPr>
          <p:cNvPr id="20" name="Text 17"/>
          <p:cNvSpPr/>
          <p:nvPr/>
        </p:nvSpPr>
        <p:spPr>
          <a:xfrm>
            <a:off x="9798010" y="3261241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AWS EC2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798010" y="3698796"/>
            <a:ext cx="3675817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t3.micro instance, Ubuntu 22.04 host environment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9522381" y="4589859"/>
            <a:ext cx="4158496" cy="1386007"/>
          </a:xfrm>
          <a:prstGeom prst="roundRect">
            <a:avLst>
              <a:gd name="adj" fmla="val 7917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99521" y="4589859"/>
            <a:ext cx="91440" cy="1386007"/>
          </a:xfrm>
          <a:prstGeom prst="roundRect">
            <a:avLst>
              <a:gd name="adj" fmla="val 30233"/>
            </a:avLst>
          </a:prstGeom>
          <a:solidFill>
            <a:srgbClr val="FFBC8F"/>
          </a:solidFill>
        </p:spPr>
      </p:sp>
      <p:sp>
        <p:nvSpPr>
          <p:cNvPr id="24" name="Text 21"/>
          <p:cNvSpPr/>
          <p:nvPr/>
        </p:nvSpPr>
        <p:spPr>
          <a:xfrm>
            <a:off x="9798010" y="4796909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Docker Container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798010" y="5234464"/>
            <a:ext cx="3675817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bot.py runtime environment, --restart always ensures high availability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522381" y="6125527"/>
            <a:ext cx="4158496" cy="1386007"/>
          </a:xfrm>
          <a:prstGeom prst="roundRect">
            <a:avLst>
              <a:gd name="adj" fmla="val 7917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99521" y="6125527"/>
            <a:ext cx="91440" cy="1386007"/>
          </a:xfrm>
          <a:prstGeom prst="roundRect">
            <a:avLst>
              <a:gd name="adj" fmla="val 30233"/>
            </a:avLst>
          </a:prstGeom>
          <a:solidFill>
            <a:srgbClr val="FFBC8F"/>
          </a:solidFill>
        </p:spPr>
      </p:sp>
      <p:sp>
        <p:nvSpPr>
          <p:cNvPr id="28" name="Text 25"/>
          <p:cNvSpPr/>
          <p:nvPr/>
        </p:nvSpPr>
        <p:spPr>
          <a:xfrm>
            <a:off x="9798010" y="6332577"/>
            <a:ext cx="2389584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Supabase + HKBU LLM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798010" y="6770132"/>
            <a:ext cx="3675817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PostgreSQL memory storage + gpt-5-mini inference engine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05088"/>
            <a:ext cx="9118759" cy="697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Meets All 7 Technical Requirements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842373"/>
            <a:ext cx="1306758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mandatory requirements have been fully implemented, and the details are listed below.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2443877"/>
            <a:ext cx="13067586" cy="5080635"/>
          </a:xfrm>
          <a:prstGeom prst="roundRect">
            <a:avLst>
              <a:gd name="adj" fmla="val 65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027" y="2451497"/>
            <a:ext cx="13052346" cy="6331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012388" y="2590919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Technical Requirement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84507" y="2590919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Implementation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89027" y="3084671"/>
            <a:ext cx="13052346" cy="6331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012388" y="3224093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Telegram Bot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584507" y="3224093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Responds to /start, /stats, /clear, and natural language messages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89027" y="3717846"/>
            <a:ext cx="13052346" cy="6331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012388" y="3857268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Cloud Database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84507" y="3857268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Supabase (PostgreSQL) persists all conversations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89027" y="4351020"/>
            <a:ext cx="13052346" cy="6331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12388" y="4490442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Cloud Platform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584507" y="4490442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AWS EC2 (t3.micro, Ubuntu 22.04)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89027" y="4984194"/>
            <a:ext cx="13052346" cy="6331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12388" y="5123617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 API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84507" y="5123617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HKBU GenAI API (gpt-5-mini deployment)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89027" y="5617369"/>
            <a:ext cx="13052346" cy="6331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012388" y="5756791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 Managed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584507" y="5756791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GitHub repository, with full commit history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89027" y="6250543"/>
            <a:ext cx="13052346" cy="6331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012388" y="6389965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Container Tech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584507" y="6389965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Docker image + --restart always automatic recovery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89027" y="6883718"/>
            <a:ext cx="13052346" cy="6331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12388" y="7023140"/>
            <a:ext cx="41180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Cost Monitoring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5584507" y="7023140"/>
            <a:ext cx="80336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AWS Budget set to a $1 threshold alert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59963"/>
            <a:ext cx="11011495" cy="653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Innovation — Persistent Conversation Memory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131814"/>
            <a:ext cx="8379857" cy="3770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4108" y="2182298"/>
            <a:ext cx="1466433" cy="453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User Sends Message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994108" y="2699981"/>
            <a:ext cx="1466433" cy="34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Send a new message to the system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8947" y="3315737"/>
            <a:ext cx="324811" cy="324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44426" y="4949612"/>
            <a:ext cx="1474491" cy="226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Fetch History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444426" y="5240683"/>
            <a:ext cx="1474491" cy="6964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Retrieve the most recent three conversations from Supabase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9266" y="4500164"/>
            <a:ext cx="324811" cy="324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8630" y="2267404"/>
            <a:ext cx="1466433" cy="2266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Inject Context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878630" y="2558475"/>
            <a:ext cx="1466433" cy="3482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Merge history into the LLM prompt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7642" y="3283508"/>
            <a:ext cx="324811" cy="324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28949" y="5123725"/>
            <a:ext cx="1466433" cy="226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Generate Reply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328949" y="5414797"/>
            <a:ext cx="1466433" cy="3482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LLM outputs a response with context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3789" y="4500164"/>
            <a:ext cx="324811" cy="324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758" y="6119455"/>
            <a:ext cx="8379857" cy="9640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Unlike a stateless chatbot, every message is stored in Supabase. Before calling the LLM, the system first retrieves the conversation history and injects it into the prompt, creating a coherent conversational experience powered entirely by free cloud services.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629299" y="1795224"/>
            <a:ext cx="4010858" cy="32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Core Implementation (Simplified)</a:t>
            </a:r>
            <a:endParaRPr lang="en-US" sz="2050" dirty="0"/>
          </a:p>
        </p:txBody>
      </p:sp>
      <p:sp>
        <p:nvSpPr>
          <p:cNvPr id="18" name="Shape 11"/>
          <p:cNvSpPr/>
          <p:nvPr/>
        </p:nvSpPr>
        <p:spPr>
          <a:xfrm>
            <a:off x="9629299" y="2338626"/>
            <a:ext cx="4276844" cy="2667595"/>
          </a:xfrm>
          <a:prstGeom prst="roundRect">
            <a:avLst>
              <a:gd name="adj" fmla="val 1176"/>
            </a:avLst>
          </a:prstGeom>
          <a:solidFill>
            <a:srgbClr val="36393F"/>
          </a:solidFill>
        </p:spPr>
      </p:sp>
      <p:sp>
        <p:nvSpPr>
          <p:cNvPr id="19" name="Shape 12"/>
          <p:cNvSpPr/>
          <p:nvPr/>
        </p:nvSpPr>
        <p:spPr>
          <a:xfrm>
            <a:off x="9618940" y="2338626"/>
            <a:ext cx="4297561" cy="2667595"/>
          </a:xfrm>
          <a:prstGeom prst="roundRect">
            <a:avLst>
              <a:gd name="adj" fmla="val 1176"/>
            </a:avLst>
          </a:prstGeom>
          <a:solidFill>
            <a:srgbClr val="36393F"/>
          </a:solidFill>
        </p:spPr>
      </p:sp>
      <p:sp>
        <p:nvSpPr>
          <p:cNvPr id="20" name="Text 13"/>
          <p:cNvSpPr/>
          <p:nvPr/>
        </p:nvSpPr>
        <p:spPr>
          <a:xfrm>
            <a:off x="9865043" y="2432129"/>
            <a:ext cx="3774877" cy="2249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history = await get_user_history(user_id)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f"""Previous conversation: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{history}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User: {message}"""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await call_llm(prompt)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9629299" y="5223034"/>
            <a:ext cx="4276844" cy="2129790"/>
          </a:xfrm>
          <a:prstGeom prst="roundRect">
            <a:avLst>
              <a:gd name="adj" fmla="val 1473"/>
            </a:avLst>
          </a:prstGeom>
          <a:solidFill>
            <a:srgbClr val="4D1F00"/>
          </a:solidFill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373" y="5529977"/>
            <a:ext cx="261342" cy="20907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308788" y="5468064"/>
            <a:ext cx="3388281" cy="16067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Example: if the user says “My name is Xiaoming,” and later asks “What is my name?” — the bot accurately replies “Xiaoming,” keeping context consistent across turns.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555" y="844550"/>
            <a:ext cx="3035300" cy="67456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905" y="881380"/>
            <a:ext cx="3018790" cy="6708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230"/>
            <a:ext cx="1057525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Cloud Deployment and DevOps Practices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160984"/>
            <a:ext cx="420588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Complete Deployment Workflow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559981" y="277046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</p:spPr>
      </p:sp>
      <p:sp>
        <p:nvSpPr>
          <p:cNvPr id="6" name="Text 3"/>
          <p:cNvSpPr/>
          <p:nvPr/>
        </p:nvSpPr>
        <p:spPr>
          <a:xfrm>
            <a:off x="5645051" y="281297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297097" y="2848332"/>
            <a:ext cx="3263146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SSH into a new Ubuntu instance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97097" y="3783806"/>
            <a:ext cx="326314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Install Docker and clone the GitHub repository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843730" y="277046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</p:spPr>
      </p:sp>
      <p:sp>
        <p:nvSpPr>
          <p:cNvPr id="10" name="Text 7"/>
          <p:cNvSpPr/>
          <p:nvPr/>
        </p:nvSpPr>
        <p:spPr>
          <a:xfrm>
            <a:off x="9928800" y="281297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580846" y="2770227"/>
            <a:ext cx="326326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Build and start the container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80846" y="3783806"/>
            <a:ext cx="3263265" cy="1459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highlight>
                  <a:srgbClr val="36393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run --restart always</a:t>
            </a: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ensures the instance automatically recovers after reboot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559981" y="56966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</p:spPr>
      </p:sp>
      <p:sp>
        <p:nvSpPr>
          <p:cNvPr id="14" name="Text 11"/>
          <p:cNvSpPr/>
          <p:nvPr/>
        </p:nvSpPr>
        <p:spPr>
          <a:xfrm>
            <a:off x="5645051" y="5739170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6297097" y="577453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Logs and debugging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97097" y="6355675"/>
            <a:ext cx="7547015" cy="733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highlight>
                  <a:srgbClr val="36393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logs</a:t>
            </a:r>
            <a:r>
              <a:rPr lang="en-US" sz="17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provides real-time access to runtime logs without online monitoring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61605"/>
            <a:ext cx="5673566" cy="5093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Cost Control and Observability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90568" y="1017746"/>
            <a:ext cx="2533055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Cost Breakdown by Service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0568" y="1448276"/>
            <a:ext cx="11249144" cy="2294096"/>
          </a:xfrm>
          <a:prstGeom prst="roundRect">
            <a:avLst>
              <a:gd name="adj" fmla="val 106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8188" y="1455896"/>
            <a:ext cx="11233904" cy="37980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861304" y="1533763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Service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8652" y="1533763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Plan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90453" y="1533763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Monthly Cost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98188" y="1835706"/>
            <a:ext cx="11233904" cy="37980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861304" y="1913572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AWS EC2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8652" y="1913572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Free Tier (t3.micro)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90453" y="1913572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$0.00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98188" y="2215515"/>
            <a:ext cx="11233904" cy="37980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861304" y="2293382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8652" y="2293382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Free Tier (500 MB)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90453" y="2293382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$0.00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698188" y="2595324"/>
            <a:ext cx="11233904" cy="37980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861304" y="2673191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Telegram API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8652" y="2673191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90453" y="2673191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$0.00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698188" y="2975134"/>
            <a:ext cx="11233904" cy="37980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861304" y="3053001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HKBU GenAI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8652" y="3053001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University Provided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90453" y="3053001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$0.00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698188" y="3354943"/>
            <a:ext cx="11233904" cy="37980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861304" y="3432810"/>
            <a:ext cx="416373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Total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58652" y="3432810"/>
            <a:ext cx="359818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90453" y="3432810"/>
            <a:ext cx="2478643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BC8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$0.00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690568" y="3874175"/>
            <a:ext cx="11249144" cy="568762"/>
          </a:xfrm>
          <a:prstGeom prst="roundRect">
            <a:avLst>
              <a:gd name="adj" fmla="val 4300"/>
            </a:avLst>
          </a:prstGeom>
          <a:solidFill>
            <a:srgbClr val="4D1F00"/>
          </a:solidFill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565" y="4102894"/>
            <a:ext cx="203716" cy="16299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220278" y="4032052"/>
            <a:ext cx="1055643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AWS Budget has been configured with a $1 alert threshold. Actual spend is zero, and the system runs entirely within each service's free tier.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463528" y="5634276"/>
            <a:ext cx="2005132" cy="407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0%</a:t>
            </a:r>
            <a:endParaRPr lang="en-US" sz="32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501" y="4615458"/>
            <a:ext cx="2445425" cy="244542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447217" y="7218759"/>
            <a:ext cx="2037874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Actual Cost Used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690568" y="7543800"/>
            <a:ext cx="5551289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Still 100% below the $1 alert threshold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9161264" y="5634276"/>
            <a:ext cx="2005132" cy="407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100%</a:t>
            </a:r>
            <a:endParaRPr lang="en-US" sz="32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237" y="4615458"/>
            <a:ext cx="2445425" cy="244542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040416" y="7218759"/>
            <a:ext cx="2247186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Free Resource Coverage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7388304" y="7543800"/>
            <a:ext cx="5551408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components run on free tiers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4368" y="135493"/>
            <a:ext cx="5305663" cy="7958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579" y="518160"/>
            <a:ext cx="4742617" cy="56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Presentation Summary</a:t>
            </a:r>
            <a:endParaRPr lang="en-US" sz="3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9" y="1298853"/>
            <a:ext cx="903684" cy="10844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80210" y="1479590"/>
            <a:ext cx="2259330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Send /start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680210" y="1848326"/>
            <a:ext cx="6831211" cy="259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Show the welcome message and command instructions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9" y="2383274"/>
            <a:ext cx="903684" cy="10844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80210" y="2564011"/>
            <a:ext cx="2259330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Memory Test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680210" y="2932748"/>
            <a:ext cx="6831211" cy="259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Say "My name is Alex," then ask "What's my name?" — the bot accurately recalls it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79" y="3467695"/>
            <a:ext cx="903684" cy="10844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80210" y="3648432"/>
            <a:ext cx="2259330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Send /stats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680210" y="4017169"/>
            <a:ext cx="6831211" cy="259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Display the current conversation turn statistics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32579" y="4714042"/>
            <a:ext cx="7878842" cy="2575560"/>
          </a:xfrm>
          <a:prstGeom prst="roundRect">
            <a:avLst>
              <a:gd name="adj" fmla="val 1053"/>
            </a:avLst>
          </a:prstGeom>
          <a:solidFill>
            <a:srgbClr val="484B51"/>
          </a:solidFill>
        </p:spPr>
      </p:sp>
      <p:sp>
        <p:nvSpPr>
          <p:cNvPr id="15" name="Shape 9"/>
          <p:cNvSpPr/>
          <p:nvPr/>
        </p:nvSpPr>
        <p:spPr>
          <a:xfrm>
            <a:off x="632579" y="4714042"/>
            <a:ext cx="7878842" cy="643890"/>
          </a:xfrm>
          <a:prstGeom prst="roundRect">
            <a:avLst>
              <a:gd name="adj" fmla="val 4211"/>
            </a:avLst>
          </a:prstGeom>
          <a:solidFill>
            <a:srgbClr val="484B51"/>
          </a:solidFill>
        </p:spPr>
      </p:sp>
      <p:sp>
        <p:nvSpPr>
          <p:cNvPr id="16" name="Text 10"/>
          <p:cNvSpPr/>
          <p:nvPr/>
        </p:nvSpPr>
        <p:spPr>
          <a:xfrm>
            <a:off x="813316" y="4894778"/>
            <a:ext cx="2709029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✅</a:t>
            </a: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  All 7 requirements met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632579" y="5357932"/>
            <a:ext cx="7878842" cy="643890"/>
          </a:xfrm>
          <a:prstGeom prst="rect">
            <a:avLst/>
          </a:prstGeom>
          <a:solidFill>
            <a:srgbClr val="484B51"/>
          </a:solidFill>
        </p:spPr>
      </p:sp>
      <p:sp>
        <p:nvSpPr>
          <p:cNvPr id="18" name="Shape 12"/>
          <p:cNvSpPr/>
          <p:nvPr/>
        </p:nvSpPr>
        <p:spPr>
          <a:xfrm>
            <a:off x="632579" y="5357932"/>
            <a:ext cx="7878842" cy="22860"/>
          </a:xfrm>
          <a:prstGeom prst="roundRect">
            <a:avLst>
              <a:gd name="adj" fmla="val 118605"/>
            </a:avLst>
          </a:prstGeom>
          <a:solidFill>
            <a:srgbClr val="61646A"/>
          </a:solidFill>
        </p:spPr>
      </p:sp>
      <p:sp>
        <p:nvSpPr>
          <p:cNvPr id="19" name="Text 13"/>
          <p:cNvSpPr/>
          <p:nvPr/>
        </p:nvSpPr>
        <p:spPr>
          <a:xfrm>
            <a:off x="813316" y="5538668"/>
            <a:ext cx="3495556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✅</a:t>
            </a: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  Fully cloud-native architecture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32579" y="6001822"/>
            <a:ext cx="7878842" cy="643890"/>
          </a:xfrm>
          <a:prstGeom prst="rect">
            <a:avLst/>
          </a:prstGeom>
          <a:solidFill>
            <a:srgbClr val="484B51"/>
          </a:solidFill>
        </p:spPr>
      </p:sp>
      <p:sp>
        <p:nvSpPr>
          <p:cNvPr id="21" name="Shape 15"/>
          <p:cNvSpPr/>
          <p:nvPr/>
        </p:nvSpPr>
        <p:spPr>
          <a:xfrm>
            <a:off x="632579" y="6001822"/>
            <a:ext cx="7878842" cy="22860"/>
          </a:xfrm>
          <a:prstGeom prst="roundRect">
            <a:avLst>
              <a:gd name="adj" fmla="val 118605"/>
            </a:avLst>
          </a:prstGeom>
          <a:solidFill>
            <a:srgbClr val="61646A"/>
          </a:solidFill>
        </p:spPr>
      </p:sp>
      <p:sp>
        <p:nvSpPr>
          <p:cNvPr id="22" name="Text 16"/>
          <p:cNvSpPr/>
          <p:nvPr/>
        </p:nvSpPr>
        <p:spPr>
          <a:xfrm>
            <a:off x="813316" y="6182558"/>
            <a:ext cx="3738086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✅</a:t>
            </a: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  Zero-cost end-to-end monitoring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632579" y="6645712"/>
            <a:ext cx="7878842" cy="643890"/>
          </a:xfrm>
          <a:prstGeom prst="rect">
            <a:avLst/>
          </a:prstGeom>
          <a:solidFill>
            <a:srgbClr val="484B51"/>
          </a:solidFill>
        </p:spPr>
      </p:sp>
      <p:sp>
        <p:nvSpPr>
          <p:cNvPr id="24" name="Shape 18"/>
          <p:cNvSpPr/>
          <p:nvPr/>
        </p:nvSpPr>
        <p:spPr>
          <a:xfrm>
            <a:off x="632579" y="6645712"/>
            <a:ext cx="7878842" cy="22860"/>
          </a:xfrm>
          <a:prstGeom prst="roundRect">
            <a:avLst>
              <a:gd name="adj" fmla="val 118605"/>
            </a:avLst>
          </a:prstGeom>
          <a:solidFill>
            <a:srgbClr val="61646A"/>
          </a:solidFill>
        </p:spPr>
      </p:sp>
      <p:sp>
        <p:nvSpPr>
          <p:cNvPr id="25" name="Text 19"/>
          <p:cNvSpPr/>
          <p:nvPr/>
        </p:nvSpPr>
        <p:spPr>
          <a:xfrm>
            <a:off x="813316" y="6826448"/>
            <a:ext cx="3325058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✅</a:t>
            </a:r>
            <a:r>
              <a:rPr lang="en-US" sz="1750" dirty="0">
                <a:solidFill>
                  <a:srgbClr val="D4D4D1"/>
                </a:solidFill>
                <a:latin typeface="IBM Plex Sans Medium" panose="020B0803050203000203" pitchFamily="34" charset="0"/>
                <a:ea typeface="IBM Plex Sans Medium" panose="020B0803050203000203" pitchFamily="34" charset="-122"/>
                <a:cs typeface="IBM Plex Sans Medium" panose="020B0803050203000203" pitchFamily="34" charset="-120"/>
              </a:rPr>
              <a:t>  Memory innovation validated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632579" y="7451527"/>
            <a:ext cx="7878842" cy="259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Thank you for listening.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4015</Words>
  <Application>WPS 演示</Application>
  <PresentationFormat>On-screen Show (16:9)</PresentationFormat>
  <Paragraphs>231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IBM Plex Sans Medium</vt:lpstr>
      <vt:lpstr>IBM Plex Sans Medium</vt:lpstr>
      <vt:lpstr>IBM Plex Sans Medium</vt:lpstr>
      <vt:lpstr>Roboto</vt:lpstr>
      <vt:lpstr>Roboto</vt:lpstr>
      <vt:lpstr>Roboto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杀人熊</cp:lastModifiedBy>
  <cp:revision>4</cp:revision>
  <dcterms:created xsi:type="dcterms:W3CDTF">2026-04-14T08:39:00Z</dcterms:created>
  <dcterms:modified xsi:type="dcterms:W3CDTF">2026-04-14T09:40:41Z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67D5F63F830A45CEA08B5753E0E3D4F3_12</vt:lpwstr>
  </property>
  <property fmtid="{D5CDD505-2E9C-101B-9397-08002B2CF9AE}" pid="3" name="KSOProductBuildVer">
    <vt:lpwstr>2052-12.1.0.25225</vt:lpwstr>
  </property>
</Properties>
</file>